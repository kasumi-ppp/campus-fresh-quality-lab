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df626c02eb49f9" /><Relationship Type="http://schemas.openxmlformats.org/officeDocument/2006/relationships/extended-properties" Target="/docProps/app.xml" Id="Rbb1f2cb175cc4522" /><Relationship Type="http://schemas.openxmlformats.org/officeDocument/2006/relationships/officeDocument" Target="/ppt/presentation.xml" Id="Ra50da72ef095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49260abde43f0"/>
  </p:sldMasterIdLst>
  <p:notesMasterIdLst>
    <p:notesMasterId xmlns:r="http://schemas.openxmlformats.org/officeDocument/2006/relationships" r:id="R062bd8476e3d4df7"/>
  </p:notesMasterIdLst>
  <p:sldIdLst>
    <p:sldId xmlns:r="http://schemas.openxmlformats.org/officeDocument/2006/relationships" id="256" r:id="Rb8b5346cb2ab422d"/>
    <p:sldId xmlns:r="http://schemas.openxmlformats.org/officeDocument/2006/relationships" id="257" r:id="Rfbf1d722b489499f"/>
    <p:sldId xmlns:r="http://schemas.openxmlformats.org/officeDocument/2006/relationships" id="258" r:id="Rc48030f0c7414332"/>
    <p:sldId xmlns:r="http://schemas.openxmlformats.org/officeDocument/2006/relationships" id="259" r:id="Rc24b355be6f44871"/>
    <p:sldId xmlns:r="http://schemas.openxmlformats.org/officeDocument/2006/relationships" id="260" r:id="R546414bc37104daa"/>
    <p:sldId xmlns:r="http://schemas.openxmlformats.org/officeDocument/2006/relationships" id="261" r:id="Rb10e39f81aa24629"/>
    <p:sldId xmlns:r="http://schemas.openxmlformats.org/officeDocument/2006/relationships" id="262" r:id="R0976e21e6a834bb2"/>
    <p:sldId xmlns:r="http://schemas.openxmlformats.org/officeDocument/2006/relationships" id="263" r:id="Re498ce651ec947f6"/>
    <p:sldId xmlns:r="http://schemas.openxmlformats.org/officeDocument/2006/relationships" id="264" r:id="R50bd4d67b21a4bfa"/>
    <p:sldId xmlns:r="http://schemas.openxmlformats.org/officeDocument/2006/relationships" id="265" r:id="Rc636009464a24443"/>
    <p:sldId xmlns:r="http://schemas.openxmlformats.org/officeDocument/2006/relationships" id="266" r:id="R2ec701fb7e3c4d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d4bb90c8424915" /><Relationship Type="http://schemas.openxmlformats.org/officeDocument/2006/relationships/slideMaster" Target="/ppt/slideMasters/slideMaster1.xml" Id="Raed49260abde43f0" /><Relationship Type="http://schemas.openxmlformats.org/officeDocument/2006/relationships/notesMaster" Target="/ppt/notesMasters/notesMaster1.xml" Id="R062bd8476e3d4df7" /><Relationship Type="http://schemas.openxmlformats.org/officeDocument/2006/relationships/presProps" Target="/ppt/presProps.xml" Id="Rec61ce5c97f04f14" /><Relationship Type="http://schemas.openxmlformats.org/officeDocument/2006/relationships/tableStyles" Target="/ppt/tableStyles.xml" Id="Ra68867bc00c2455a" /><Relationship Type="http://schemas.openxmlformats.org/officeDocument/2006/relationships/slide" Target="/ppt/slides/slide1.xml" Id="Rb8b5346cb2ab422d" /><Relationship Type="http://schemas.openxmlformats.org/officeDocument/2006/relationships/slide" Target="/ppt/slides/slide2.xml" Id="Rfbf1d722b489499f" /><Relationship Type="http://schemas.openxmlformats.org/officeDocument/2006/relationships/slide" Target="/ppt/slides/slide3.xml" Id="Rc48030f0c7414332" /><Relationship Type="http://schemas.openxmlformats.org/officeDocument/2006/relationships/slide" Target="/ppt/slides/slide4.xml" Id="Rc24b355be6f44871" /><Relationship Type="http://schemas.openxmlformats.org/officeDocument/2006/relationships/slide" Target="/ppt/slides/slide5.xml" Id="R546414bc37104daa" /><Relationship Type="http://schemas.openxmlformats.org/officeDocument/2006/relationships/slide" Target="/ppt/slides/slide6.xml" Id="Rb10e39f81aa24629" /><Relationship Type="http://schemas.openxmlformats.org/officeDocument/2006/relationships/slide" Target="/ppt/slides/slide7.xml" Id="R0976e21e6a834bb2" /><Relationship Type="http://schemas.openxmlformats.org/officeDocument/2006/relationships/slide" Target="/ppt/slides/slide8.xml" Id="Re498ce651ec947f6" /><Relationship Type="http://schemas.openxmlformats.org/officeDocument/2006/relationships/slide" Target="/ppt/slides/slide9.xml" Id="R50bd4d67b21a4bfa" /><Relationship Type="http://schemas.openxmlformats.org/officeDocument/2006/relationships/slide" Target="/ppt/slides/slide10.xml" Id="Rc636009464a24443" /><Relationship Type="http://schemas.openxmlformats.org/officeDocument/2006/relationships/slide" Target="/ppt/slides/slide11.xml" Id="R2ec701fb7e3c4d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85032e7de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1787d395e5482f" /><Relationship Type="http://schemas.openxmlformats.org/officeDocument/2006/relationships/notesMaster" Target="/ppt/notesMasters/notesMaster1.xml" Id="R97e90d3c038e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d415138f834f6c" /><Relationship Type="http://schemas.openxmlformats.org/officeDocument/2006/relationships/notesMaster" Target="/ppt/notesMasters/notesMaster1.xml" Id="R5eb65789fe9944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7b29b1dcc04927" /><Relationship Type="http://schemas.openxmlformats.org/officeDocument/2006/relationships/notesMaster" Target="/ppt/notesMasters/notesMaster1.xml" Id="R00ddc3139ff54f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f0fbbb42cc4236" /><Relationship Type="http://schemas.openxmlformats.org/officeDocument/2006/relationships/notesMaster" Target="/ppt/notesMasters/notesMaster1.xml" Id="R0258f3ccba1f4c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9a9838b52a4504" /><Relationship Type="http://schemas.openxmlformats.org/officeDocument/2006/relationships/notesMaster" Target="/ppt/notesMasters/notesMaster1.xml" Id="Rb723080480514d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650f77881e427c" /><Relationship Type="http://schemas.openxmlformats.org/officeDocument/2006/relationships/notesMaster" Target="/ppt/notesMasters/notesMaster1.xml" Id="Re83d11f93928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a03257177240a0" /><Relationship Type="http://schemas.openxmlformats.org/officeDocument/2006/relationships/notesMaster" Target="/ppt/notesMasters/notesMaster1.xml" Id="R94b1dbe2ed5d48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79f2d915be4b08" /><Relationship Type="http://schemas.openxmlformats.org/officeDocument/2006/relationships/notesMaster" Target="/ppt/notesMasters/notesMaster1.xml" Id="R71c11b4ece82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3f924f0cec43ba" /><Relationship Type="http://schemas.openxmlformats.org/officeDocument/2006/relationships/notesMaster" Target="/ppt/notesMasters/notesMaster1.xml" Id="Ra13027bf5c2441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df4ccd0024ede" /><Relationship Type="http://schemas.openxmlformats.org/officeDocument/2006/relationships/notesMaster" Target="/ppt/notesMasters/notesMaster1.xml" Id="R0c6d68e08b13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5f2e5d1df2448e" /><Relationship Type="http://schemas.openxmlformats.org/officeDocument/2006/relationships/notesMaster" Target="/ppt/notesMasters/notesMaster1.xml" Id="R2e08aa1fc9b74b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来源：仓库 README.md、docs/requirements/ 与课程实践作业要求。项目名称为校园鲜达。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数据证据：apps/df_goods/management/commands/load_demo_data.py；docs/reports/2026-09-11-cart-order-defects.md；当前仓库 manage.py test 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证据来自 git log：b3d6062（hilar1）、816eec0（huoxiangxuan）、463741d（kasumi-ppp）。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覆盖统计来自 docs/testing/module1-manual-test-case-matrix.xlsx 的覆盖矩阵。36 条为覆盖框架，不等同于已完成的人工执行记录。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说明：为遵守课程对人工测试用例来源的要求，框架字段留给成员实际设计和执行，不在汇报中将空白记录宣称为已完成用例。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数据来源：当前仓库执行 manage.py test 的结果；专项回归命令覆盖 CartAccessControlTests、OrderAccessControlTests、OrderAmountTests，共 10 个测试。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证据来源：docs/reports/2026-09-11-cart-order-defects.md、apps/df_cart/tests_member_c.py、apps/df_order/tests_member_c.py、git 提交 816eec0。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典型缺陷对应 D-01。当前实现位于 apps/df_cart/views.py 第 78–83 行；回归测试位于 apps/df_cart/tests_member_c.py。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证据来源：提交 def3f18、463741d；当前仓库 manage.py check 与 manage.py test 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演示数据命令：.\.venv\Scripts\python.exe manage.py load_demo_data。流程与仓库 README、三人需求文档一致。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结论按当前仓库证据撰写；人工用例字段仍需三位成员完成真实设计和执行后，才能将状态改为已完成。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746f3564242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12564021d24e00" /><Relationship Type="http://schemas.openxmlformats.org/officeDocument/2006/relationships/slideLayout" Target="/ppt/slideLayouts/slideLayout1.xml" Id="Rff045f151c534d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45f151c534d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97edc9b2341b2" /><Relationship Type="http://schemas.openxmlformats.org/officeDocument/2006/relationships/notesSlide" Target="/ppt/notesSlides/notesSlide1.xml" Id="R5cce87f8ac674f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c2b3b55c7473d" /><Relationship Type="http://schemas.openxmlformats.org/officeDocument/2006/relationships/notesSlide" Target="/ppt/notesSlides/notesSlide2.xml" Id="R59b7345994b44d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40aa9a48a4698" /><Relationship Type="http://schemas.openxmlformats.org/officeDocument/2006/relationships/notesSlide" Target="/ppt/notesSlides/notesSlide3.xml" Id="Rd982099987464a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2e6e9f14b4545" /><Relationship Type="http://schemas.openxmlformats.org/officeDocument/2006/relationships/notesSlide" Target="/ppt/notesSlides/notesSlide4.xml" Id="Rc5491f3140b3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ecbebc7f440ee" /><Relationship Type="http://schemas.openxmlformats.org/officeDocument/2006/relationships/notesSlide" Target="/ppt/notesSlides/notesSlide5.xml" Id="R5cc18c3391b542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7250311b64f89" /><Relationship Type="http://schemas.openxmlformats.org/officeDocument/2006/relationships/notesSlide" Target="/ppt/notesSlides/notesSlide6.xml" Id="R1cd43f46f011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2554d7caa4cd3" /><Relationship Type="http://schemas.openxmlformats.org/officeDocument/2006/relationships/notesSlide" Target="/ppt/notesSlides/notesSlide7.xml" Id="Rc04a97b5a91341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c683a0f4840e1" /><Relationship Type="http://schemas.openxmlformats.org/officeDocument/2006/relationships/notesSlide" Target="/ppt/notesSlides/notesSlide8.xml" Id="R716ae5a380e946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346c25b242f3" /><Relationship Type="http://schemas.openxmlformats.org/officeDocument/2006/relationships/notesSlide" Target="/ppt/notesSlides/notesSlide9.xml" Id="R1768075e99c942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6d9397f9e4109" /><Relationship Type="http://schemas.openxmlformats.org/officeDocument/2006/relationships/notesSlide" Target="/ppt/notesSlides/notesSlide10.xml" Id="R500f2d279dbb42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7d25121874d38" /><Relationship Type="http://schemas.openxmlformats.org/officeDocument/2006/relationships/notesSlide" Target="/ppt/notesSlides/notesSlide11.xml" Id="R97321245470249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90667-265C-4DCA-B842-92B5E5C2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校园鲜达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B00F4-FD1E-491F-AA55-22FE38E8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CEAD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AD0"/>
                </a:solidFill>
                <a:latin typeface="Arial"/>
                <a:ea typeface="Arial"/>
                <a:cs typeface="Arial"/>
              </a:rPr>
              <a:t>模块一中期检查汇报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D656D-352B-47AD-A382-CAE0FFB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生鲜电商系统的需求分析、测试设计与质量改进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B33FE-9769-4D20-852E-628B924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2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8"/>
                </a:solidFill>
                <a:latin typeface="Arial"/>
                <a:ea typeface="Arial"/>
                <a:cs typeface="Arial"/>
              </a:rPr>
              <a:t>小组：A 用户与地址  ·  B 商品与搜索  ·  C 购物车与订单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1923A-12A7-4A36-A92F-71F0A44D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96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E2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2E8"/>
                </a:solidFill>
                <a:latin typeface="Arial"/>
                <a:ea typeface="Arial"/>
                <a:cs typeface="Arial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829636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B892B-5890-4A4E-9E79-300BD37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项目概况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27CDF-AA06-4259-AE66-DCACD9F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项目范围与当前基线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65468-9B4C-43F2-AD38-046C63A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3BBE2-8AFA-417A-B93C-479B64F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校园鲜达保留往届天天生鲜的核心购买链路，并围绕校园场景整理需求、测试和质量改进。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DC7C-AB0A-4657-9FFC-91CEA7EB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74214-A48B-40DC-BECB-285E877D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演示分类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12782-29D3-472E-AC45-01742EE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AFC36-B0CC-4486-9050-BC6E4E0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演示商品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156E4-46EA-4197-BFA9-70B682B8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4B86B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4B86B4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F3B1-1EF1-47F0-A7C0-B93E3B86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自动化测试通过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A0DC6-BCA4-40D8-8F97-574D7A82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986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7A49A-604D-4FFE-8232-3CEB4F66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重点缺陷证据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2182B-D470-4B10-8960-6D783F6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数据来源：load_demo_data 命令、当前仓库全量测试和成员 C 的缺陷修复记录。</a:t>
            </a:r>
          </a:p>
        </p:txBody>
      </p:sp>
    </p:spTree>
    <p:extLst>
      <p:ext uri="{BB962C8B-B14F-4D97-AF65-F5344CB8AC3E}">
        <p14:creationId xmlns:p14="http://schemas.microsoft.com/office/powerpoint/2010/main" val="863297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F862F-FAFB-44CA-9C48-BAF95BE1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BC4CC-31B0-45E7-84FD-9F7EDD61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三人分工与提交链路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B181E-59BC-423A-BB19-63C8FBA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11364-0E31-4466-9B48-9151B3A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成员 A｜组长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F3922-1D82-49F1-9689-42EFF5AB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用户、登录、注册、用户中心</a:t>
            </a:r>
          </a:p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收货地址</a:t>
            </a:r>
          </a:p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环境升级、集成、分支和最终复核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45B0A-DF4C-46C2-8FD2-114DF6DD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成员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7C687-072E-44EB-9B3C-2A9B17E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商品、搜索</a:t>
            </a:r>
          </a:p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浏览历史</a:t>
            </a:r>
          </a:p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演示数据与测试度量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068F3-6E1C-43CA-9F31-B31BA176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成员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59A0F-4228-42F2-8823-C6E5DE4A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购物车、订单</a:t>
            </a:r>
          </a:p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库存</a:t>
            </a:r>
          </a:p>
          <a:p xmlns:a="http://schemas.openxmlformats.org/drawingml/2006/main">
            <a:pPr>
              <a:defRPr sz="142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集成执行与演示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40D34-7FAB-4F26-A865-ABF99B5E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当前 Git 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18BAB-1F4C-4A6A-9B59-48F02D3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b3d6062  成员 B 商品/搜索测试</a:t>
            </a:r>
          </a:p>
          <a:p xmlns:a="http://schemas.openxmlformats.org/drawingml/2006/main">
            <a:pPr>
              <a:defRPr sz="15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816eec0  成员 C 购物车/订单缺陷修复</a:t>
            </a:r>
          </a:p>
          <a:p xmlns:a="http://schemas.openxmlformats.org/drawingml/2006/main">
            <a:pPr>
              <a:defRPr sz="15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463741d  组长 演示数据加载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817B1-1B4F-447E-BB9B-88008594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862F"/>
                </a:solidFill>
                <a:latin typeface="Arial"/>
                <a:ea typeface="Arial"/>
                <a:cs typeface="Arial"/>
              </a:rPr>
              <a:t>复核点：每位成员用个人账号提交自己的用例、证据和代码。</a:t>
            </a:r>
          </a:p>
        </p:txBody>
      </p:sp>
    </p:spTree>
    <p:extLst>
      <p:ext uri="{BB962C8B-B14F-4D97-AF65-F5344CB8AC3E}">
        <p14:creationId xmlns:p14="http://schemas.microsoft.com/office/powerpoint/2010/main" val="1336046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3E03A-188D-49F8-B0C7-E26651A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测试设计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4FD50-C08A-4C65-BCFD-1AEA49D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测试对象与需求覆盖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722D-5764-4D4A-B6C2-AF974C4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D4858-8812-4427-A0DC-2E608DC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A 用户与地址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FF545-3B68-4C79-ABA0-D1AC1B9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登录、注册、退出</a:t>
            </a:r>
          </a:p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用户中心、地址新增与校验</a:t>
            </a:r>
          </a:p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重点：会话、权限、必填字段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1ED76-054A-4155-8A96-10290999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B 商品与搜索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72E54-3576-4BB0-B699-A346DBF1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分类首页、详情</a:t>
            </a:r>
          </a:p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关键词搜索、浏览历史</a:t>
            </a:r>
          </a:p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重点：空值、边界、逻辑删除商品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8B239-A2A8-47B4-8D53-84D025BF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C 购物车与订单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4F009-5BC4-4A17-B656-6490616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加购、数量、结算、金额</a:t>
            </a:r>
          </a:p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地址快照、库存</a:t>
            </a:r>
          </a:p>
          <a:p xmlns:a="http://schemas.openxmlformats.org/drawingml/2006/main">
            <a:pPr>
              <a:defRPr sz="13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重点：越权、库存回滚、订单号唯一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0DA39-B455-4233-BED0-10561607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方法覆盖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72ADC-BA55-431D-B1C0-247C536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B33"/>
                </a:solidFill>
                <a:latin typeface="Arial"/>
                <a:ea typeface="Arial"/>
                <a:cs typeface="Arial"/>
              </a:rPr>
              <a:t>等价类 14 条   |   边界值 11 条   |   场景法 11 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A8E88-EAFF-4DBD-A507-94E115B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862F"/>
                </a:solidFill>
                <a:latin typeface="Arial"/>
                <a:ea typeface="Arial"/>
                <a:cs typeface="Arial"/>
              </a:rPr>
              <a:t>框架共 36 条，满足数量目标；最终提交前由成员补齐人工步骤和执行结果。</a:t>
            </a:r>
          </a:p>
        </p:txBody>
      </p:sp>
    </p:spTree>
    <p:extLst>
      <p:ext uri="{BB962C8B-B14F-4D97-AF65-F5344CB8AC3E}">
        <p14:creationId xmlns:p14="http://schemas.microsoft.com/office/powerpoint/2010/main" val="1357619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E2668-C382-49A4-A04E-26123841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人工测试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0925-A05D-4039-A8D6-551CB4FE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人工用例记录表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9C386-216A-4CC2-8D3B-2D7B8382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1B00-8CA8-494E-90F5-11F54482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36 条编号已按模块和负责人分配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05C16-F7F6-4A30-A735-4EF7D56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A-USER-001…012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D6952-59FF-4609-9A0C-6334D44B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86B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86B4"/>
                </a:solidFill>
                <a:latin typeface="Arial"/>
                <a:ea typeface="Arial"/>
                <a:cs typeface="Arial"/>
              </a:rPr>
              <a:t>B-GOODS-001…012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A1F86-CA47-4DC9-8DAA-2AC05168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8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862F"/>
                </a:solidFill>
                <a:latin typeface="Arial"/>
                <a:ea typeface="Arial"/>
                <a:cs typeface="Arial"/>
              </a:rPr>
              <a:t>C-CART/ORD-001…012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BEC8-CAB1-46A9-82E1-0A94A28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每条记录保留：前置条件、步骤、输入、预期、实际、状态、证据路径、缺陷编号。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B732C-87F7-4617-B5CC-6185FF9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54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4A4A"/>
                </a:solidFill>
                <a:latin typeface="Arial"/>
                <a:ea typeface="Arial"/>
                <a:cs typeface="Arial"/>
              </a:rPr>
              <a:t>当前文件是可审计的填写框架。按照作业书，成员必须亲自补写并执行这些字段后，才能作为最终人工用例提交。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217BA-5033-41FF-8C28-A3E4EFE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文件：docs/testing/module1-manual-test-case-matrix.xlsx</a:t>
            </a:r>
          </a:p>
        </p:txBody>
      </p:sp>
    </p:spTree>
    <p:extLst>
      <p:ext uri="{BB962C8B-B14F-4D97-AF65-F5344CB8AC3E}">
        <p14:creationId xmlns:p14="http://schemas.microsoft.com/office/powerpoint/2010/main" val="1224281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4EE2B-5575-4BBF-8F23-F25EA35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自动化测试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F842E-230A-45FA-BE6D-BEC5823D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自动化回归结果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09C10-807D-469F-8234-527058E7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79473-2564-42DE-9351-DF8A1D5F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全量回归：78 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C3F4-FC6F-4FD7-BCAD-6E43C547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B86B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B86B4"/>
                </a:solidFill>
                <a:latin typeface="Arial"/>
                <a:ea typeface="Arial"/>
                <a:cs typeface="Arial"/>
              </a:rPr>
              <a:t>缺陷专项：10 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7C6DC-7302-47C7-A001-BAA8D6C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当前基线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13001-9C5A-440B-9A6D-EC484744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manage.py test</a:t>
            </a:r>
          </a:p>
          <a:p xmlns:a="http://schemas.openxmlformats.org/drawingml/2006/main">
            <a:pPr>
              <a:defRPr sz="22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78 个测试全部通过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65CB1-7CBB-4D1C-B915-C92BAC5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专项回归</a:t>
            </a:r>
          </a:p>
          <a:p xmlns:a="http://schemas.openxmlformats.org/drawingml/2006/main">
            <a:pPr>
              <a:defRPr sz="16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购物车权限、订单权限、金额</a:t>
            </a:r>
          </a:p>
          <a:p xmlns:a="http://schemas.openxmlformats.org/drawingml/2006/main">
            <a:pPr>
              <a:defRPr sz="165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10 个测试全部通过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C7AE3-BED5-4703-8AF9-190F1E3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执行记录：docs/testing/defect-regression-output.txt</a:t>
            </a:r>
          </a:p>
        </p:txBody>
      </p:sp>
    </p:spTree>
    <p:extLst>
      <p:ext uri="{BB962C8B-B14F-4D97-AF65-F5344CB8AC3E}">
        <p14:creationId xmlns:p14="http://schemas.microsoft.com/office/powerpoint/2010/main" val="1173871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D20E4-F052-4375-9C33-4D8DDCA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缺陷闭环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BF67F-856C-41CB-B4B1-916DB3B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三项重点缺陷证据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9F0CD-2B8E-4DBB-BE59-7F984CB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9618-CA51-468B-9B6E-B8588D2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54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54A4A"/>
                </a:solidFill>
                <a:latin typeface="Arial"/>
                <a:ea typeface="Arial"/>
                <a:cs typeface="Arial"/>
              </a:rPr>
              <a:t>D-01｜购物车越权修改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2FD63-39D6-4CA1-B06C-5F3B365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基线按条目编号取记录，未校验 user_id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影响：用户可修改他人购物车数量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修复：按 pk + 当前用户过滤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回归：test_edit_other_user_cart_is_rejected 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3E604-213B-4D33-9F72-EE16642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54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54A4A"/>
                </a:solidFill>
                <a:latin typeface="Arial"/>
                <a:ea typeface="Arial"/>
                <a:cs typeface="Arial"/>
              </a:rPr>
              <a:t>D-03｜订单越权结算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DCCB1-60EC-4910-9FDC-62E9CDFA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基线允许客户端提交他人 cart_id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影响：可结算他人商品并生成订单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修复：订单确认与下单均校验归属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回归：OrderAccessControlTests 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33645-6767-4F79-94A8-5F88A18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54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54A4A"/>
                </a:solidFill>
                <a:latin typeface="Arial"/>
                <a:ea typeface="Arial"/>
                <a:cs typeface="Arial"/>
              </a:rPr>
              <a:t>D-04｜订单总额可被篡改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316F2-5C1F-4264-82BB-0E8F3C6D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基线直接信任表单 total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影响：浏览器改金额即可低价下单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修复：服务器 Decimal 重算并加配送费</a:t>
            </a:r>
          </a:p>
          <a:p xmlns:a="http://schemas.openxmlformats.org/drawingml/2006/main">
            <a:pPr>
              <a:defRPr sz="1575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回归：test_tampered_total_from_browser_is_ignored 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3C967-DB62-4B80-BF27-243DDCDA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完整记录：docs/testing/module1-defect-evidence.md</a:t>
            </a:r>
          </a:p>
        </p:txBody>
      </p:sp>
    </p:spTree>
    <p:extLst>
      <p:ext uri="{BB962C8B-B14F-4D97-AF65-F5344CB8AC3E}">
        <p14:creationId xmlns:p14="http://schemas.microsoft.com/office/powerpoint/2010/main" val="1173137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5DDE4-B6B5-45E0-936D-F95CFA6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缺陷分析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ACF76-B27A-4510-9DD5-4C7D5749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典型缺陷：购物车权限隔离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35BC3-00B6-409A-B512-E0BF47FA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7A97F-C70C-4A49-9ECB-2C3A4575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54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A4A"/>
                </a:solidFill>
                <a:latin typeface="Arial"/>
                <a:ea typeface="Arial"/>
                <a:cs typeface="Arial"/>
              </a:rPr>
              <a:t>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9ACF-7673-4DA3-BD92-834CBCD6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用户 A 构造用户 B 的 cart_id，调用修改接口。基线代码只按 pk 查询，返回成功并改变 B 的数量。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CF348-C0B5-4111-83AE-669B7C78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862F"/>
                </a:solidFill>
                <a:latin typeface="Arial"/>
                <a:ea typeface="Arial"/>
                <a:cs typeface="Arial"/>
              </a:rPr>
              <a:t>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76CBA-BBBE-4571-BADB-5ED9282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接口把浏览器传入的条目编号当成了授权依据，缺少当前会话用户过滤。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23E83-4F8B-48AD-AE34-F4ABBCF6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26266-8071-4FE8-BABB-EBFC06A7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查询条件统一使用 pk=cart_id, user_id=uid；未命中返回可理解的失败 JSON，并保留他人数据不变。</a:t>
            </a:r>
          </a:p>
        </p:txBody>
      </p:sp>
    </p:spTree>
    <p:extLst>
      <p:ext uri="{BB962C8B-B14F-4D97-AF65-F5344CB8AC3E}">
        <p14:creationId xmlns:p14="http://schemas.microsoft.com/office/powerpoint/2010/main" val="423979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65EF9-9EE1-46D7-A1FC-F01E255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质量改进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2115C-347D-4D18-A667-781A12D8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集成难点：旧代码与 Django 5.2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3B0DE-E338-4A4D-8A4D-34B575EB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B6091-6F59-45BF-BB25-DD023C85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54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A4A"/>
                </a:solidFill>
                <a:latin typeface="Arial"/>
                <a:ea typeface="Arial"/>
                <a:cs typeface="Arial"/>
              </a:rPr>
              <a:t>现象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912C3-4A00-4EDF-9CE3-CE15DCBE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合并成员代码后出现模板标签、URL 导入和 request.is_ajax 兼容问题，首页或测试无法正常运行。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90E34-4236-48BD-8C3B-600BACB6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62B18-5E8F-4F83-AA33-E5DFCBB2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组长在集成提交中统一恢复 Django 5.2 写法，并用全量测试确认主流程。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34771-A7D2-4A54-B20E-306D91BB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B86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B86B4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73D1F-7A59-45C3-A259-7E51457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def3f18 后全量 78 个测试通过，演示数据通过 load_demo_data 幂等加载。</a:t>
            </a:r>
          </a:p>
        </p:txBody>
      </p:sp>
    </p:spTree>
    <p:extLst>
      <p:ext uri="{BB962C8B-B14F-4D97-AF65-F5344CB8AC3E}">
        <p14:creationId xmlns:p14="http://schemas.microsoft.com/office/powerpoint/2010/main" val="670340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35A2C-F67B-49C0-872B-5B4992A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演示准备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80C1-1F14-44BB-8533-6ABC2BD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中期现场演示流程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99A55-2F4A-4850-BB46-DCED486B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A3948-808A-470A-B6D5-790D66C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1  启动项目并加载演示数据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1F039-B4B6-4687-8564-767E87B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2  注册或登录脱敏账号，进入用户中心并维护地址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0D098-1722-44CD-ABED-8561EF26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3  首页按分类浏览商品，使用搜索和浏览历史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79EA0-3428-4E99-B481-E49D1686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4  加入购物车，修改数量，提交订单并展示库存变化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0C87A-3213-45B0-B39B-0BA463D8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5  运行自动化回归，展示 78 OK 和三项缺陷回归证据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B6789-6CBC-45E8-9404-88599C2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862F"/>
                </a:solidFill>
                <a:latin typeface="Arial"/>
                <a:ea typeface="Arial"/>
                <a:cs typeface="Arial"/>
              </a:rPr>
              <a:t>现场准备：浏览器截图、终端测试结果、Excel 用例和缺陷证据文件。</a:t>
            </a:r>
          </a:p>
        </p:txBody>
      </p:sp>
    </p:spTree>
    <p:extLst>
      <p:ext uri="{BB962C8B-B14F-4D97-AF65-F5344CB8AC3E}">
        <p14:creationId xmlns:p14="http://schemas.microsoft.com/office/powerpoint/2010/main" val="1961298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E5F08-3A4A-45A4-9E7D-A05DD9B5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33FA0-925E-4D16-8B96-4A5D550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中期结论与提交前清单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054E1-2894-413E-ACE7-5FBE930B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3F832-8FDD-4D66-BAC2-5FE7D839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EAA2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AA2F"/>
                </a:solidFill>
                <a:latin typeface="Arial"/>
                <a:ea typeface="Arial"/>
                <a:cs typeface="Arial"/>
              </a:rPr>
              <a:t>已经具备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277FA-4965-437A-9D4D-86ED7D6E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核心购买链路可运行</a:t>
            </a:r>
          </a:p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演示数据可重复加载</a:t>
            </a:r>
          </a:p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自动化回归基线稳定</a:t>
            </a:r>
          </a:p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至少三项缺陷有修复记录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C49E-CA4E-4633-B5F5-850D8BC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862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862F"/>
                </a:solidFill>
                <a:latin typeface="Arial"/>
                <a:ea typeface="Arial"/>
                <a:cs typeface="Arial"/>
              </a:rPr>
              <a:t>提交前必须完成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27A0C-B1F5-4893-9FC2-F727E68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三位成员亲自补齐并执行 ≥30 条人工用例</a:t>
            </a:r>
          </a:p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每条关联截图或录屏证据</a:t>
            </a:r>
          </a:p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核对 Git 作者、提交说明和分支</a:t>
            </a:r>
          </a:p>
          <a:p xmlns:a="http://schemas.openxmlformats.org/drawingml/2006/main">
            <a:pPr>
              <a:defRPr sz="1800" b="0">
                <a:solidFill>
                  <a:srgbClr val="1C2B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2B33"/>
                </a:solidFill>
                <a:latin typeface="Arial"/>
                <a:ea typeface="Arial"/>
                <a:cs typeface="Arial"/>
              </a:rPr>
              <a:t>现场演示一次完整流程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088C1-6023-4EE4-BCAA-534D48FA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B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B5B"/>
                </a:solidFill>
                <a:latin typeface="Arial"/>
                <a:ea typeface="Arial"/>
                <a:cs typeface="Arial"/>
              </a:rPr>
              <a:t>目标状态：用例记录可追踪、缺陷证据可复现、代码和 PPT 对得上。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47D80-A5AE-4A9E-93F6-3EE9CE30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090571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2026-09-15T05:36:20.1320000Z</dcterms:created>
  <dcterms:modified xsi:type="dcterms:W3CDTF">2026-09-15T05:36:20.1320000Z</dcterms:modified>
</coreProperties>
</file>